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3891200" cy="3291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891200" cy="329184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0" cy="3840480"/>
          </a:xfrm>
          <a:prstGeom prst="rect">
            <a:avLst/>
          </a:prstGeom>
          <a:solidFill>
            <a:srgbClr val="235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420624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Adolescent Elevation in Social Offending: Survey-Weighted NCVS Incident Analyses (2014–2022)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4206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FFFFFF"/>
                </a:solidFill>
              </a:defRPr>
            </a:pPr>
            <a:r>
              <a:t>Danny Zweben  •  CABLAB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297680"/>
            <a:ext cx="13655040" cy="27706320"/>
          </a:xfrm>
          <a:prstGeom prst="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4297680"/>
            <a:ext cx="13655040" cy="685800"/>
          </a:xfrm>
          <a:prstGeom prst="rect">
            <a:avLst/>
          </a:prstGeom>
          <a:solidFill>
            <a:srgbClr val="EBEF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4407408"/>
            <a:ext cx="1310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E1E"/>
                </a:solidFill>
              </a:defRPr>
            </a:pPr>
            <a:r>
              <a:t>Background &amp; Question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15118080" y="4297680"/>
            <a:ext cx="13655040" cy="27706320"/>
          </a:xfrm>
          <a:prstGeom prst="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5118080" y="4297680"/>
            <a:ext cx="13655040" cy="685800"/>
          </a:xfrm>
          <a:prstGeom prst="rect">
            <a:avLst/>
          </a:prstGeom>
          <a:solidFill>
            <a:srgbClr val="EBEF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392400" y="4407408"/>
            <a:ext cx="1310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E1E"/>
                </a:solidFill>
              </a:defRPr>
            </a:pPr>
            <a:r>
              <a:t>Data, Measures, &amp; Analytic Approach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321760" y="4297680"/>
            <a:ext cx="13655040" cy="27706320"/>
          </a:xfrm>
          <a:prstGeom prst="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321760" y="4297680"/>
            <a:ext cx="13655040" cy="685800"/>
          </a:xfrm>
          <a:prstGeom prst="rect">
            <a:avLst/>
          </a:prstGeom>
          <a:solidFill>
            <a:srgbClr val="EBEF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596080" y="4407408"/>
            <a:ext cx="1310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E1E"/>
                </a:solidFill>
              </a:defRPr>
            </a:pPr>
            <a:r>
              <a:t>Results (Effect Sizes + Inference)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5212080"/>
            <a:ext cx="12923520" cy="9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E1E1E"/>
                </a:solidFill>
              </a:defRPr>
            </a:pPr>
            <a:r>
              <a:t>• Goal: quantify whether incidents involving multiple people are more common in adolescence than adulthood.</a:t>
            </a:r>
            <a:br/>
            <a:r>
              <a:t>• Primary social context: Alone vs Social, where Social = Co-offending + Observed.</a:t>
            </a:r>
            <a:br/>
            <a:r>
              <a:t>• Co-offending analysis: Social = Co-offending only (conventional operationalization).</a:t>
            </a:r>
            <a:br/>
            <a:r>
              <a:t>• Scopes: Total incidents, Theft/property, Violent/nonfatal personal.</a:t>
            </a:r>
            <a:br/>
            <a:br/>
            <a:r>
              <a:t>Key idea: describe differences in proportions (percentage-point deltas) alongside survey-adjusted tests and odds ratios.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483840" y="5212080"/>
            <a:ext cx="12923520" cy="1097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E1E1E"/>
                </a:solidFill>
              </a:defRPr>
            </a:pPr>
            <a:r>
              <a:t>Dataset: National Crime Victimization Survey (NCVS), 2014–2022, incident-level records.</a:t>
            </a:r>
            <a:br/>
            <a:r>
              <a:t>Age groups are NCVS categories; for co-offending incidents, youngest and oldest offender age-group fields are used.</a:t>
            </a:r>
            <a:br/>
            <a:r>
              <a:t>Check on potential missing intermediate ages: 87.0% (weighted) of co-offending incidents have youngest/oldest in the same or adjacent age brackets.</a:t>
            </a:r>
            <a:br/>
            <a:br/>
            <a:r>
              <a:t>Inference: survey weights + replicate weights (Fay’s BRR); Rao–Scott adjusted tests for tables with Bonferroni-adjusted planned pairwise comparisons; survey-weighted logistic regression for odds of solo offending.</a:t>
            </a:r>
          </a:p>
        </p:txBody>
      </p:sp>
      <p:pic>
        <p:nvPicPr>
          <p:cNvPr id="17" name="Picture 16" descr="FIG_social_context_stacked_total_with_sig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87520" y="5212080"/>
            <a:ext cx="12923520" cy="718999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9687520" y="21214080"/>
            <a:ext cx="12923520" cy="11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E1E1E"/>
                </a:solidFill>
              </a:defRPr>
            </a:pPr>
            <a:r>
              <a:t>Total (Primary): Social = 57.3% (15–17) vs 35.3% (30+)  → Δ = +22.0 points.</a:t>
            </a:r>
            <a:br/>
            <a:r>
              <a:t>Pairwise: 15–17 vs 18–20 not significant after Bonferroni; teen–adult contrasts significant.</a:t>
            </a:r>
            <a:br/>
            <a:r>
              <a:t>Logit (Total): adult groups show higher odds of solo offending vs 15–17 (e.g., 30+ OR ≈ 2.46).</a:t>
            </a:r>
            <a:br/>
            <a:br/>
            <a:r>
              <a:t>Pattern replicates in Theft and Violent scopes.</a:t>
            </a:r>
            <a:br/>
            <a:r>
              <a:t>Co-offending-only analysis shows the adolescent elevation persists under the conventional definition.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2186880"/>
            <a:ext cx="4206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5A5A5A"/>
                </a:solidFill>
              </a:defRPr>
            </a:pPr>
            <a:r>
              <a:t>Note: Draft poster scaffold generated from manuscript tables/figures. Final: add citations, sample sizes, and conference footer branding.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